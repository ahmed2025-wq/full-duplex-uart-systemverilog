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665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this as a completed, verified IP block ready for review — not a work-in-progress. State the one-line summary: a parameterized UART Transmitter, taken from RTL through simulation debug to FPGA synthesis. Set expectations for the flow of the talk: spec, architecture, FSM, datapath, RTL elaboration, verification, results, and two real debug case studies before closing on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committee through the interface contract before any internals: three input control signals beyond CLK/RST, one data bus, two outputs. Emphasize the handshake constraint explicitly — it's a correctness requirement we verified, not just a nice-to-have, and it comes back in the debug case studies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elaborated top-level view straight from Quartus — swap in your RTL Viewer screenshot here. Four blocks: the parameterized top wrapper, the baud generator that paces every bit, the FSM that sequences the protocol, and the datapath that actually assembles and shifts the frame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states, Moore-style outputs gated by state. Point out DATA is highlighted in amber because that's exactly where one of our debug case studies happened — a timing bug that stalled the FSM here. PARITY is conditionally entered only when P_EN is high; otherwise DATA transitions straight to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 the real case statement into this code panel before presenting. Walk the committee through the two-always-block style: registered state, combinational next-state. Flag that bit_done is an input to this FSM generated by the datapath — its timing is exactly what bug #2 in the debugging section was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blocks make up the datapath. The MUX is purely a function of FSM state — it never generates control decisions itself, only routes bits. The parity calculator is a plain XOR tree, so it settles well within one clock period. The bit counter is the block at the center of debug case study #2.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treatment as the FSM slide — paste the real datapath code into the panel. The two bullets at the bottom are deliberate callbacks: both point directly at the root causes covered in the debugging section, so the committee sees where in the code each fix actually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proof that the RTL synthesizes cleanly into real hardware. Confirm no unintended latches were inferred — a common way FSM or MUX bugs like the ones we hit would otherwise hide until the gate level. Fill in the LE/register counts from your own Compilation Report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pieces: a driver that respects the same handshake contract real hardware must respect, a simple clock/reset generator, and a self-checking monitor that reconstructs the transmitted frame bit-by-bit rather than just eyeballing waveforms. The parametrized baud divider is what let us iterate on waveform debug in seconds instead of minutes per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waveform left to right against this checklist. This is the same checklist the monitor enforces automatically in regression — showing it manually here builds committee confidence that the self-checking testbench isn't missing anything a human would catch by eye.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two bugs worth walking through carefully because they represent two different classes of RTL mistakes: bug #1 is a simulation semantics issue (blocking vs. non-blocking in combinational logic) that could also bias synthesis results if left uncorrected; bug #2 is an architectural timing mismatch between a control signal and the state it's meant to gate. Both were found by tracing the QuestaSim waveform back to the exact clock edge where behavior diverged from expectation.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reinforcing that this is a signed-off, working IP block, not a proof of concept — verified against a self-checking testbench and clean through synthesis. Then pivot forward: FIFO and AXI-Stream wrappers are the natural next integration steps if this block is adopted into a larger SoC, and a UART_RX counterpart completes the link.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deep-dive section by framing why the BRG matters: every other block in the design is paced off baud_tick, so its correctness is foundational. Point out this is a pure divide-by-N counter with no surprises — the interesting engineering is entirely in how cleanly it's parameterized for reuse at any baud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same unit-level testbench style shown earlier for the full design, applied at the block level: isolate, drive, self-check. The N-cycle assertion here is what gives confidence the top-level timing is correct without having to eyeball every waveform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serializer at the heart of the datapath. The key design decision to call out is the load vs. shift priority encoded in the always block — load_re_shift and shift_en should never need to be asserted in the same cycle given the FSM's control discipline, but the RTL still defines a clear priority for 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waveform bit-by-bit against the driven byte to show the LSB-first convention explicitly — this is exactly the kind of detail a committee will want confirmed rather than assumed.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block, but worth a full slide because parity errors are a classic UART integration bug. Emphasize it's purely combinational — no registered stage — so it's always valid the same cycle P_INPUT is 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reference-model-in-the-testbench pattern is worth calling out explicitly — it's a scalable verification technique that generalizes well beyond this one block, and shows verification maturity beyond just directed test vectors.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block is the direct subject of Debug Case Study #2 from the main deck — flag that connection explicitly. The combinational assign statement for bit_done is the fix; showing it here alongside the counter itself makes the root-cause story concrete rather than abstract.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regression test that would have caught the original bug automatically — worth noting that it was added as a direct result of the debug process, not written speculatively beforehand.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other half of Debug Case Study #1. The blocking-assignment detail in the bullet list isn't incidental — it's the exact fix, stated here as a design rule rather than a war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Exhaustive testing of all 4 select values is deliberate here, not overkill — with only 4 states, full coverage is cheap and it's exactly this kind of exhaustive check that should catch a MUX scheduling bug like the one covered earlier, closing the loop on Debug Case Study #1.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exists to show range — that the direct-handshake design was a deliberate choice against a specification, not the only architecture known. Be ready to explain FWFT specifically: unlike a standard synchronous FIFO where rd_data is only valid one cycle after rd_en, FWFT presents the next word immediately, which matters if a downstream consumer wants to peek before committing to a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deep-dive section with the trade-off framed as a deliberate engineering choice, not a limitation. The direct-handshake spec was chosen specifically to exercise and verify data-drop behavior under back-pressure — a legitimate design requirement in its own right, distinct from ‘the FIFO version wasn't built.’ If asked why not just always use a FIFO: cost, latency, and verification surface are all lower without one, and some protocols specifically require the master to observe BUSY rather than have the slave paper over back-pressure.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784080" y="0"/>
            <a:ext cx="0" cy="6858000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87000" y="0"/>
            <a:ext cx="0" cy="6858000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789920" y="0"/>
            <a:ext cx="0" cy="6858000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418320" y="233172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212B3D"/>
          </a:solidFill>
          <a:ln w="15875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784080" y="2311146"/>
            <a:ext cx="128016" cy="41148"/>
          </a:xfrm>
          <a:prstGeom prst="rect">
            <a:avLst/>
          </a:prstGeom>
          <a:solidFill>
            <a:srgbClr val="3A4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784080" y="4459986"/>
            <a:ext cx="128016" cy="41148"/>
          </a:xfrm>
          <a:prstGeom prst="rect">
            <a:avLst/>
          </a:prstGeom>
          <a:solidFill>
            <a:srgbClr val="3A4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213848" y="2311146"/>
            <a:ext cx="128016" cy="41148"/>
          </a:xfrm>
          <a:prstGeom prst="rect">
            <a:avLst/>
          </a:prstGeom>
          <a:solidFill>
            <a:srgbClr val="3A4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213848" y="4459986"/>
            <a:ext cx="128016" cy="41148"/>
          </a:xfrm>
          <a:prstGeom prst="rect">
            <a:avLst/>
          </a:prstGeom>
          <a:solidFill>
            <a:srgbClr val="3A4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43616" y="2311146"/>
            <a:ext cx="128016" cy="41148"/>
          </a:xfrm>
          <a:prstGeom prst="rect">
            <a:avLst/>
          </a:prstGeom>
          <a:solidFill>
            <a:srgbClr val="3A4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643616" y="4459986"/>
            <a:ext cx="128016" cy="41148"/>
          </a:xfrm>
          <a:prstGeom prst="rect">
            <a:avLst/>
          </a:prstGeom>
          <a:solidFill>
            <a:srgbClr val="3A4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073384" y="2311146"/>
            <a:ext cx="128016" cy="41148"/>
          </a:xfrm>
          <a:prstGeom prst="rect">
            <a:avLst/>
          </a:prstGeom>
          <a:solidFill>
            <a:srgbClr val="3A4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73384" y="4459986"/>
            <a:ext cx="128016" cy="41148"/>
          </a:xfrm>
          <a:prstGeom prst="rect">
            <a:avLst/>
          </a:prstGeom>
          <a:solidFill>
            <a:srgbClr val="3A4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418320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UART_TX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 REVIEW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23774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UART Transmitter (UART_TX)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337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F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 — Design, Verification &amp; Debug 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 HDL   ·   Verified in QuestaSim   ·   Synthesized in Intel Quartus Prime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760720"/>
            <a:ext cx="3108960" cy="0"/>
          </a:xfrm>
          <a:prstGeom prst="line">
            <a:avLst/>
          </a:prstGeom>
          <a:noFill/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40080" y="5897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172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2026/8  ·  Digital IC Design Review Committee</a:t>
            </a:r>
            <a:endParaRPr lang="en-US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773B47-4F19-C4F1-94D8-AE815953CFA4}"/>
              </a:ext>
            </a:extLst>
          </p:cNvPr>
          <p:cNvSpPr txBox="1"/>
          <p:nvPr/>
        </p:nvSpPr>
        <p:spPr>
          <a:xfrm>
            <a:off x="585217" y="4263902"/>
            <a:ext cx="607050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AF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Ahmed Gamal Khalaf</a:t>
            </a:r>
            <a:endParaRPr lang="en-US" sz="32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Core Specifications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verify, and debug a fully synthesizable UART Transmitter RTL IP core implementing standard asynchronous serial framing with optional parity — ready for FPGA and ASIC integration.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06324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UART TX with direct (FIFO) handshaking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Handshake: clk, </a:t>
            </a:r>
            <a:r>
              <a:rPr lang="en-US" sz="135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5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tx_data_en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5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we_en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(single-cycle valid pulse), </a:t>
            </a:r>
            <a:r>
              <a:rPr lang="en-US" sz="135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parity_en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5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parity_bit_en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TX_OUTPUT (serial line), BUSY (transmission-in-progress flag)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470916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6E9"/>
          </a:solidFill>
          <a:ln w="1587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31520" y="48463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Handshake Constraint:  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must ignore any new </a:t>
            </a:r>
            <a:r>
              <a:rPr lang="en-US" sz="13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we_en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pulse while Busy is high.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1554480"/>
            <a:ext cx="57607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5875">
            <a:solidFill>
              <a:srgbClr val="D3D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748272" y="153390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48272" y="60601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71232" y="153390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571232" y="60601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94192" y="153390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94192" y="60601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217152" y="153390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217152" y="60601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40112" y="153390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040112" y="60601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863072" y="153390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863072" y="60601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30936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SIGNALS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538764"/>
              </p:ext>
            </p:extLst>
          </p:nvPr>
        </p:nvGraphicFramePr>
        <p:xfrm>
          <a:off x="6309360" y="2148840"/>
          <a:ext cx="5120640" cy="359105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9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clock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 err="1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Rst_n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Synchronous reset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 err="1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tx_data_in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data byte to transmit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 err="1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we_en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pulse (1 clock cycle)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 err="1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Parity_en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Parity enable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 err="1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Parity_bit_state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Parity type select (even / odd)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TX_OUT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transmit 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while a frame is in process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IP Core  |  02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Architecture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943600" cy="4434840"/>
          </a:xfrm>
          <a:prstGeom prst="roundRect">
            <a:avLst>
              <a:gd name="adj" fmla="val 1649"/>
            </a:avLst>
          </a:prstGeom>
          <a:solidFill>
            <a:srgbClr val="FBFCFD"/>
          </a:solidFill>
          <a:ln w="15875">
            <a:solidFill>
              <a:srgbClr val="D3DAE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8379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83792" y="601446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37439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74392" y="601446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6499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64992" y="601446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5559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55592" y="601446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4619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46192" y="601446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7200" y="33147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D3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8176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 INSERT IMAGE HERE &gt;&gt;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1376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Quartus Top-Level RTL Schematic / Block Diagram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(uart_tx_top.v elaborated view)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29400" y="1600200"/>
            <a:ext cx="24460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30568" y="1783080"/>
            <a:ext cx="347472" cy="347472"/>
          </a:xfrm>
          <a:prstGeom prst="ellipse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30568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87768" y="1737360"/>
            <a:ext cx="15773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Module (UART_TX)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2395728"/>
            <a:ext cx="18973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by DATA_WIDTH</a:t>
            </a:r>
            <a:endParaRPr lang="en-US" sz="105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Instantiates &amp; wires all sub-blocks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304020" y="1600200"/>
            <a:ext cx="24460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05188" y="1783080"/>
            <a:ext cx="347472" cy="347472"/>
          </a:xfrm>
          <a:prstGeom prst="ellipse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9505188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962388" y="1737360"/>
            <a:ext cx="15773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Baud Rate Generator (BRG)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578340" y="2395728"/>
            <a:ext cx="18973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system clock</a:t>
            </a:r>
            <a:endParaRPr lang="en-US" sz="105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one bit-period tick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29400" y="3931920"/>
            <a:ext cx="24460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830568" y="4114800"/>
            <a:ext cx="347472" cy="347472"/>
          </a:xfrm>
          <a:prstGeom prst="ellipse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830568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287768" y="4069080"/>
            <a:ext cx="15773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FSM (Main Controller)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4727448"/>
            <a:ext cx="18973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the 5-state protocol</a:t>
            </a:r>
            <a:endParaRPr lang="en-US" sz="105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datapath control signals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304020" y="3931920"/>
            <a:ext cx="24460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505188" y="4114800"/>
            <a:ext cx="347472" cy="347472"/>
          </a:xfrm>
          <a:prstGeom prst="ellipse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9505188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962388" y="4069080"/>
            <a:ext cx="15773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Datapath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9578340" y="4727448"/>
            <a:ext cx="18973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Serializer, Parity Calc., Bit Counter</a:t>
            </a:r>
            <a:endParaRPr lang="en-US" sz="105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4-to-1 output MUX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IP Core  |  03 / 24</a:t>
            </a:r>
            <a:endParaRPr lang="en-US" sz="9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DC3F59D-2E85-8772-9C19-909FE4F00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53" y="1641348"/>
            <a:ext cx="5684935" cy="226061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A5BA4B6-E8C0-77E4-FB8F-A63A46C49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341950" y="1898941"/>
            <a:ext cx="2204527" cy="58299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LOGIC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FSM Controller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BFCFD"/>
          </a:solidFill>
          <a:ln w="15875">
            <a:solidFill>
              <a:srgbClr val="D3DAE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0759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07592" y="601446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2199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21992" y="601446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3639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36392" y="601446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5079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050792" y="601446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96519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65192" y="601446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7200" y="33147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D3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8176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 INSERT IMAGE HERE &gt;&gt;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1376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State Diagram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→ START → DATA → PARITY → STOP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1600200"/>
            <a:ext cx="557784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3D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72200" y="1600200"/>
            <a:ext cx="1143000" cy="740664"/>
          </a:xfrm>
          <a:prstGeom prst="roundRect">
            <a:avLst>
              <a:gd name="adj" fmla="val 7407"/>
            </a:avLst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172200" y="1600200"/>
            <a:ext cx="1143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cs typeface="Courier New" pitchFamily="34" charset="-120"/>
              </a:rPr>
              <a:t>RST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1600200"/>
            <a:ext cx="41605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TX_OUTPUT held high; waits for </a:t>
            </a:r>
            <a:r>
              <a:rPr lang="en-US" sz="12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we_en</a:t>
            </a: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BUSY = 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2450592"/>
            <a:ext cx="557784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3D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72200" y="2450592"/>
            <a:ext cx="1143000" cy="740664"/>
          </a:xfrm>
          <a:prstGeom prst="roundRect">
            <a:avLst>
              <a:gd name="adj" fmla="val 7407"/>
            </a:avLst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172200" y="2450592"/>
            <a:ext cx="1143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450592"/>
            <a:ext cx="41605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TX_OUTPUT low for one full bit period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3300984"/>
            <a:ext cx="557784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3D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72200" y="3300984"/>
            <a:ext cx="1143000" cy="740664"/>
          </a:xfrm>
          <a:prstGeom prst="roundRect">
            <a:avLst>
              <a:gd name="adj" fmla="val 7407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172200" y="3300984"/>
            <a:ext cx="1143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3300984"/>
            <a:ext cx="41605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Serializes DATA_WIDTH bits LSB-first; bit counter advances each baud tick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72200" y="4151376"/>
            <a:ext cx="557784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3D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72200" y="4151376"/>
            <a:ext cx="1143000" cy="740664"/>
          </a:xfrm>
          <a:prstGeom prst="roundRect">
            <a:avLst>
              <a:gd name="adj" fmla="val 7407"/>
            </a:avLst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172200" y="4151376"/>
            <a:ext cx="1143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PARITY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452360" y="4151376"/>
            <a:ext cx="41605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Transmits computed parity bit (entered only if </a:t>
            </a:r>
            <a:r>
              <a:rPr lang="en-US" sz="12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parity_en</a:t>
            </a: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asserted)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72200" y="5001768"/>
            <a:ext cx="557784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3D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172200" y="5001768"/>
            <a:ext cx="1143000" cy="740664"/>
          </a:xfrm>
          <a:prstGeom prst="roundRect">
            <a:avLst>
              <a:gd name="adj" fmla="val 7407"/>
            </a:avLst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6172200" y="5001768"/>
            <a:ext cx="1143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452360" y="5001768"/>
            <a:ext cx="41605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TX_OUTPUT high, deasserts BUSY, returns to IDLE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LOGIC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IP Core  |  04 / 24</a:t>
            </a:r>
            <a:endParaRPr lang="en-US" sz="9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9AE1E7D4-703F-5990-A70A-9419EAA7E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67" y="1669923"/>
            <a:ext cx="5468433" cy="43342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IMPLEMENTATION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FSM RTL Code Snippet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6949440" cy="4434840"/>
          </a:xfrm>
          <a:prstGeom prst="roundRect">
            <a:avLst>
              <a:gd name="adj" fmla="val 1237"/>
            </a:avLst>
          </a:prstGeom>
          <a:solidFill>
            <a:srgbClr val="12182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6949440" cy="365760"/>
          </a:xfrm>
          <a:prstGeom prst="roundRect">
            <a:avLst>
              <a:gd name="adj" fmla="val 15000"/>
            </a:avLst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6949440" cy="182880"/>
          </a:xfrm>
          <a:prstGeom prst="rect">
            <a:avLst/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8368" y="1728216"/>
            <a:ext cx="109728" cy="109728"/>
          </a:xfrm>
          <a:prstGeom prst="ellipse">
            <a:avLst/>
          </a:prstGeom>
          <a:solidFill>
            <a:srgbClr val="E86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77824" y="1728216"/>
            <a:ext cx="109728" cy="109728"/>
          </a:xfrm>
          <a:prstGeom prst="ellipse">
            <a:avLst/>
          </a:prstGeom>
          <a:solidFill>
            <a:srgbClr val="F2C9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97280" y="1728216"/>
            <a:ext cx="109728" cy="109728"/>
          </a:xfrm>
          <a:prstGeom prst="ellipse">
            <a:avLst/>
          </a:prstGeom>
          <a:solidFill>
            <a:srgbClr val="6FC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371600" y="1600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uart_tx_fsm.v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057400"/>
            <a:ext cx="63093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1737360"/>
            <a:ext cx="4114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Two-process style: sequential state register + combinational next-state / output logic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register updates only on clk; </a:t>
            </a:r>
            <a:r>
              <a:rPr lang="en-US" sz="13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forces RST synchronously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Next-state logic is a pure case statement on the current state and control inputs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bit_done (from the datapath) gates the DATA → PARITY/STOP transition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Parity_en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sampled at START to decide whether PARITY is visited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IMPLEMENTATION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IP Core  |  05 / 24</a:t>
            </a:r>
            <a:endParaRPr lang="en-US" sz="900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6A0AA646-E815-6781-3CA6-C039329B85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64259" y="0"/>
            <a:ext cx="2463481" cy="6858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C2DACF1-E904-B2CE-2240-F177D7457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580" y="1600200"/>
            <a:ext cx="3968479" cy="44348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FE60D55-3C97-D1F1-D092-DADC7A7707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0075" y="1600200"/>
            <a:ext cx="3535185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DATAPATH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Datapath &amp; Serializer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3D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783080"/>
            <a:ext cx="347472" cy="347472"/>
          </a:xfrm>
          <a:prstGeom prst="ellipse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58368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173736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4-to-1 Output MUX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368296"/>
            <a:ext cx="4846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Start / Data-bit / Parity / Stop onto TX_OUTPUT</a:t>
            </a:r>
            <a:endParaRPr lang="en-US" sz="12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lines driven directly by FSM current state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600200"/>
            <a:ext cx="5715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3D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36208" y="1783080"/>
            <a:ext cx="347472" cy="347472"/>
          </a:xfrm>
          <a:prstGeom prst="ellipse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236208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93408" y="173736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Serializer (Shift Register)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368296"/>
            <a:ext cx="5166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Parallel-loads P_INPUT on the V_INPUT pulse</a:t>
            </a:r>
            <a:endParaRPr lang="en-US" sz="12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LSB-first, one bit per baud tick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8368" y="4114800"/>
            <a:ext cx="347472" cy="347472"/>
          </a:xfrm>
          <a:prstGeom prst="ellipse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58368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406908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Parity Calculator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700016"/>
            <a:ext cx="48463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XOR-tree over </a:t>
            </a:r>
            <a:r>
              <a:rPr lang="en-US" sz="12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tx_data_out</a:t>
            </a: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FIFO</a:t>
            </a:r>
            <a:endParaRPr lang="en-US" sz="12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Even/odd sense selected by </a:t>
            </a:r>
            <a:r>
              <a:rPr lang="en-US" sz="12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parity_bit_en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3931920"/>
            <a:ext cx="5715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36208" y="4114800"/>
            <a:ext cx="347472" cy="347472"/>
          </a:xfrm>
          <a:prstGeom prst="ellipse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236208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693408" y="406908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3-bit Bit Counter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4700016"/>
            <a:ext cx="51663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position 0–7 within the data byte</a:t>
            </a:r>
            <a:endParaRPr lang="en-US" sz="12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bit_done to the FSM (combinational)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DATAPATH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IP Core  |  06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IMPLEMENTATION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Datapath RTL Code Snippet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2020824"/>
            <a:ext cx="63093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1737360"/>
            <a:ext cx="4114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ordering convention: LSB-first, matching the UART standard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fields are logically concatenated as {STOP, PARITY, DATA[7:0], START}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 select logic uses blocking (=) assignments inside always @(*) — see Debug Case Study #1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terminal count exposed combinationally as bit_done — see Debug Case Study #2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IMPLEMENTATION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IP Core  |  07 / 24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E055390-0EBF-F225-E8F2-415D3861E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" y="1591744"/>
            <a:ext cx="6822440" cy="43518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RTL Elaboration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6949440" cy="4434840"/>
          </a:xfrm>
          <a:prstGeom prst="roundRect">
            <a:avLst>
              <a:gd name="adj" fmla="val 1649"/>
            </a:avLst>
          </a:prstGeom>
          <a:solidFill>
            <a:srgbClr val="FBFCFD"/>
          </a:solidFill>
          <a:ln w="15875">
            <a:solidFill>
              <a:srgbClr val="D3DAE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5143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51432" y="601446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0967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09672" y="601446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6791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867912" y="601446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615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6152" y="601446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8439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84392" y="601446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7200" y="33147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D3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8176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 INSERT IMAGE HERE &gt;&gt;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1376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Quartus RTL Viewer — full elaborated schematic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35240" y="1600200"/>
            <a:ext cx="4114800" cy="2103120"/>
          </a:xfrm>
          <a:prstGeom prst="roundRect">
            <a:avLst>
              <a:gd name="adj" fmla="val 3478"/>
            </a:avLst>
          </a:prstGeom>
          <a:solidFill>
            <a:srgbClr val="FBFCFD"/>
          </a:solidFill>
          <a:ln w="15875">
            <a:solidFill>
              <a:srgbClr val="D3DAE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5703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57032" y="368274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94283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942832" y="368274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62863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628632" y="368274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31443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314432" y="368274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100023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1000232" y="368274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7635240" y="2148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D3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790956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 INSERT IMAGE HERE &gt;&gt;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909560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Viewer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635240" y="3886200"/>
            <a:ext cx="4114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3D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790956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ELABORATION CHECKS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7909560" y="438912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netlist matches RTL design intent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inferred latches on any datapath or FSM signal</a:t>
            </a:r>
          </a:p>
        </p:txBody>
      </p:sp>
      <p:sp>
        <p:nvSpPr>
          <p:cNvPr id="37" name="Text 3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IP Core  |  08 / 24</a:t>
            </a:r>
            <a:endParaRPr lang="en-US" sz="9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0349499-6B41-733E-1283-317C2D869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38" y="1666494"/>
            <a:ext cx="6875438" cy="432739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E6A5F81-03C2-22FD-9EFB-F7F337744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39" y="1608201"/>
            <a:ext cx="4099255" cy="21054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Environment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611880" cy="3703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3D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783080"/>
            <a:ext cx="347472" cy="347472"/>
          </a:xfrm>
          <a:prstGeom prst="ellipse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58368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17373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Stimulus Driver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368296"/>
            <a:ext cx="306324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</a:t>
            </a:r>
            <a:r>
              <a:rPr lang="ar-EG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tx_data_in</a:t>
            </a: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we_en</a:t>
            </a: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parity_en</a:t>
            </a: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parity_bit_en</a:t>
            </a:r>
            <a:endParaRPr lang="en-US" sz="12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directed + randomized byte sequences</a:t>
            </a:r>
            <a:endParaRPr lang="en-US" sz="12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Respects the Busy handshake when queuing new frames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600200"/>
            <a:ext cx="3611880" cy="3703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3D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98848" y="1783080"/>
            <a:ext cx="347472" cy="347472"/>
          </a:xfrm>
          <a:prstGeom prst="ellipse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498848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56048" y="17373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Clock / Reset Gen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368296"/>
            <a:ext cx="306324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Free-running clk generation</a:t>
            </a:r>
            <a:endParaRPr lang="en-US" sz="12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</a:t>
            </a:r>
            <a:r>
              <a:rPr lang="en-US" sz="12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</a:t>
            </a: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pulse at start of test</a:t>
            </a:r>
            <a:endParaRPr lang="en-US" sz="12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Parameterizable clock period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600200"/>
            <a:ext cx="3611880" cy="3703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3D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39328" y="1783080"/>
            <a:ext cx="347472" cy="347472"/>
          </a:xfrm>
          <a:prstGeom prst="ellipse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339328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796528" y="17373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Self-Checking Monitor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2368296"/>
            <a:ext cx="306324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TX_OUTPUT at each bit period</a:t>
            </a:r>
            <a:endParaRPr lang="en-US" sz="12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Reconstructs frame: start/data/parity/stop</a:t>
            </a:r>
            <a:endParaRPr lang="en-US" sz="12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BUSY asserts/deasserts at correct edges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440680"/>
            <a:ext cx="11292840" cy="822960"/>
          </a:xfrm>
          <a:prstGeom prst="roundRect">
            <a:avLst>
              <a:gd name="adj" fmla="val 8889"/>
            </a:avLst>
          </a:prstGeom>
          <a:solidFill>
            <a:srgbClr val="FFF6E9"/>
          </a:solidFill>
          <a:ln w="1587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31520" y="5577840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Parametrization Strategy:  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 counter parameterized (e.g. N=4 ) to compress simulation runtime while preserving protocol timing relationships — fast QuestaSim iteration during debug.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IP Core  |  09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Results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7406640" cy="4434840"/>
          </a:xfrm>
          <a:prstGeom prst="roundRect">
            <a:avLst>
              <a:gd name="adj" fmla="val 1649"/>
            </a:avLst>
          </a:prstGeom>
          <a:solidFill>
            <a:srgbClr val="FBFCFD"/>
          </a:solidFill>
          <a:ln w="15875">
            <a:solidFill>
              <a:srgbClr val="D3DAE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2763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27632" y="601446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86207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62072" y="601446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9651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096512" y="601446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33095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30952" y="601446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65392" y="15796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65392" y="601446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7200" y="331470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8176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1376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92440" y="160020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3D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36676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210312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bit: TX_OUTPUT low for exactly one baud period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bits: 8 bits, LSB-first, match driven P_INPUT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bit: correct value for asserted </a:t>
            </a:r>
            <a:r>
              <a:rPr lang="en-US" sz="12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parity_en</a:t>
            </a: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sense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bit: TX_OUTPUT returns high for one baud period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BUSY: high for the entire frame, deasserts exactly at frame end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IP Core  |  10 / 24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CE96BA9-9238-64FE-0ACD-6AE04970D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4477131"/>
            <a:ext cx="7406640" cy="160248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C9974AB-2CE8-809F-84F1-E070F49F6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97817"/>
            <a:ext cx="7406640" cy="112023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EC566FF-6CED-3E53-7FEF-2DCC9B2F89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738204"/>
            <a:ext cx="7393975" cy="17016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&amp; ROOT-CAUSE ANALYSIS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6708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Case Studies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3D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440680" cy="502920"/>
          </a:xfrm>
          <a:prstGeom prst="roundRect">
            <a:avLst>
              <a:gd name="adj" fmla="val 14545"/>
            </a:avLst>
          </a:prstGeom>
          <a:solidFill>
            <a:srgbClr val="1B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5440680" cy="246888"/>
          </a:xfrm>
          <a:prstGeom prst="rect">
            <a:avLst/>
          </a:prstGeom>
          <a:solidFill>
            <a:srgbClr val="1B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#1  —  MISSING STOP BIT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286000"/>
            <a:ext cx="4892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bit missing from TX_OUTPUT in simulation.
</a:t>
            </a: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(&lt;=) assignments used inside the combinational MUX select block (always @(*)) created a scheduling race — the select logic evaluated against a stale value.
</a:t>
            </a: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the assignments inside the combinational always @(*) block from non-blocking (&lt;=) to blocking (=).
</a:t>
            </a: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blocking (=) in combinational always @(*) blocks; reserve non-blocking (&lt;=) for sequential always @(posedge CLK) blocks.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3D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63640" y="1600200"/>
            <a:ext cx="5440680" cy="502920"/>
          </a:xfrm>
          <a:prstGeom prst="roundRect">
            <a:avLst>
              <a:gd name="adj" fmla="val 14545"/>
            </a:avLst>
          </a:prstGeom>
          <a:solidFill>
            <a:srgbClr val="1B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63640" y="1856232"/>
            <a:ext cx="5440680" cy="246888"/>
          </a:xfrm>
          <a:prstGeom prst="rect">
            <a:avLst/>
          </a:prstGeom>
          <a:solidFill>
            <a:srgbClr val="1B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92240" y="16002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#2  —  FSM STUCK IN DATA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286000"/>
            <a:ext cx="4892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never left the DATA state; bit counter appeared to count correctly.
</a:t>
            </a: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bit_done was a registered (sequential) signal, adding a 1-cycle lag that desynchronized it from the counter's true terminal count — the FSM missed the transition window.
</a:t>
            </a: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bit_done purely combinational:
</a:t>
            </a:r>
            <a:r>
              <a:rPr lang="en-US" sz="1150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 bit_done = (counter == 3'b111);
</a:t>
            </a: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signals that gate FSM transitions should be combinational functions of state unless timing explicitly requires a registered stage.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&amp; ROOT-CAUSE ANALYSIS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IP Core  |  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F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Scalability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45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verified UART_TX RTL IP core — 5-state FSM, parameterized datapath, direct handshake
</a:t>
            </a: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significant RTL bugs identified and resolved via waveform-level root-cause analysis
</a:t>
            </a: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Quartus Prime synthesis with schematic matching design intent, no inferred latches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074920"/>
            <a:ext cx="5394960" cy="0"/>
          </a:xfrm>
          <a:prstGeom prst="line">
            <a:avLst/>
          </a:prstGeom>
          <a:noFill/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7200" y="52578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FC4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integration review and sign-off.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IP Core  |  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DEEP DIVE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5233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Baud Rate Generator (BRG) – RTL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45523"/>
            <a:ext cx="11292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counter: divides the system clock by N =4 (count_width = 3)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Free-running counter increments on every clock cycle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baud_tick pulses high for exactly one cycle when the counter reaches N−1, then resets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1218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486400" cy="365760"/>
          </a:xfrm>
          <a:prstGeom prst="roundRect">
            <a:avLst>
              <a:gd name="adj" fmla="val 15000"/>
            </a:avLst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5486400" cy="182880"/>
          </a:xfrm>
          <a:prstGeom prst="rect">
            <a:avLst/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" y="2642616"/>
            <a:ext cx="109728" cy="109728"/>
          </a:xfrm>
          <a:prstGeom prst="ellipse">
            <a:avLst/>
          </a:prstGeom>
          <a:solidFill>
            <a:srgbClr val="E86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77824" y="2642616"/>
            <a:ext cx="109728" cy="109728"/>
          </a:xfrm>
          <a:prstGeom prst="ellipse">
            <a:avLst/>
          </a:prstGeom>
          <a:solidFill>
            <a:srgbClr val="F2C9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7280" y="2642616"/>
            <a:ext cx="109728" cy="109728"/>
          </a:xfrm>
          <a:prstGeom prst="ellipse">
            <a:avLst/>
          </a:prstGeom>
          <a:solidFill>
            <a:srgbClr val="6FC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371600" y="2514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BRG.v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2807208"/>
            <a:ext cx="4846320" cy="3408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BRG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    parameter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    parameter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count_width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)(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input  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clk,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input  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rst_n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output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BGR_tick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    reg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[count_width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] count;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clk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negedge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rst_n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rst_n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    count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BGR_tick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(count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    count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BGR_tick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      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    count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count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1'b1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BGR_tick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endmodule</a:t>
            </a:r>
            <a:endParaRPr lang="en-US" sz="14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0" y="2514600"/>
            <a:ext cx="5486400" cy="3794760"/>
          </a:xfrm>
          <a:prstGeom prst="roundRect">
            <a:avLst>
              <a:gd name="adj" fmla="val 1928"/>
            </a:avLst>
          </a:prstGeom>
          <a:solidFill>
            <a:srgbClr val="FBFCFD"/>
          </a:solidFill>
          <a:ln w="15875">
            <a:solidFill>
              <a:srgbClr val="D3DAE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683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683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827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827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8971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8971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115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8115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7259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7259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217920" y="39090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D3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DEEP DIVE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IP Core  |  13 / 24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FD7ACD-52F9-83F6-69DC-BB1A488A2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50008"/>
            <a:ext cx="6096000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DEEP DIVE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Baud Rate Generator (BRG) – Unit Testing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36192"/>
            <a:ext cx="11292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testbench instantiates the BRG in isolation with a small N for fast simulation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CLK and RST_N, monitors baud_tick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Self-checking assertion: baud_tick must assert exactly N clock cycles after each reset / prior tick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1218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486400" cy="365760"/>
          </a:xfrm>
          <a:prstGeom prst="roundRect">
            <a:avLst>
              <a:gd name="adj" fmla="val 15000"/>
            </a:avLst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5486400" cy="182880"/>
          </a:xfrm>
          <a:prstGeom prst="rect">
            <a:avLst/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" y="2642616"/>
            <a:ext cx="109728" cy="109728"/>
          </a:xfrm>
          <a:prstGeom prst="ellipse">
            <a:avLst/>
          </a:prstGeom>
          <a:solidFill>
            <a:srgbClr val="E86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77824" y="2642616"/>
            <a:ext cx="109728" cy="109728"/>
          </a:xfrm>
          <a:prstGeom prst="ellipse">
            <a:avLst/>
          </a:prstGeom>
          <a:solidFill>
            <a:srgbClr val="F2C9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7280" y="2642616"/>
            <a:ext cx="109728" cy="109728"/>
          </a:xfrm>
          <a:prstGeom prst="ellipse">
            <a:avLst/>
          </a:prstGeom>
          <a:solidFill>
            <a:srgbClr val="6FC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371600" y="2514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BRG_tb.v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50008" y="2628387"/>
            <a:ext cx="4846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3095"/>
              </a:lnSpc>
              <a:buNone/>
            </a:pPr>
            <a:r>
              <a:rPr lang="en-US" sz="6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6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timescale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1ns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1ps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BGR_tb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count_width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    reg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clk;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    reg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rst_n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    wire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BGR_tick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BRG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en-US" sz="800" b="0" dirty="0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(N),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en-US" sz="800" b="0" dirty="0" err="1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count_width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count_width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) UT (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en-US" sz="800" b="0" dirty="0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clk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(clk),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en-US" sz="800" b="0" dirty="0" err="1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rst_n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rst_n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en-US" sz="800" b="0" dirty="0" err="1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BGR_tick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BGR_tick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clk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clk;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initial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clk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rst_n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rst_n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$finish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endmodule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0" y="2514600"/>
            <a:ext cx="5486400" cy="3794760"/>
          </a:xfrm>
          <a:prstGeom prst="roundRect">
            <a:avLst>
              <a:gd name="adj" fmla="val 1928"/>
            </a:avLst>
          </a:prstGeom>
          <a:solidFill>
            <a:srgbClr val="FBFCFD"/>
          </a:solidFill>
          <a:ln w="15875">
            <a:solidFill>
              <a:srgbClr val="D3DAE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683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683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827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827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8971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8971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115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8115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7259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7259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217920" y="39090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D3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DEEP DIVE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IP Core  |  14 / 24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2189603-D149-93CB-F639-8C97219F9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3229311"/>
            <a:ext cx="5486400" cy="190813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DEEP DIVE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Register – RTL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36192"/>
            <a:ext cx="11292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Parallel-loads P_INPUT synchronously when load_re_shift is high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right one bit per baud tick when shift_en is high — LSB output first, matching UART bit order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its current value when neither control signal is asserted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1218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486400" cy="365760"/>
          </a:xfrm>
          <a:prstGeom prst="roundRect">
            <a:avLst>
              <a:gd name="adj" fmla="val 15000"/>
            </a:avLst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5486400" cy="182880"/>
          </a:xfrm>
          <a:prstGeom prst="rect">
            <a:avLst/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" y="2642616"/>
            <a:ext cx="109728" cy="109728"/>
          </a:xfrm>
          <a:prstGeom prst="ellipse">
            <a:avLst/>
          </a:prstGeom>
          <a:solidFill>
            <a:srgbClr val="E86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77824" y="2642616"/>
            <a:ext cx="109728" cy="109728"/>
          </a:xfrm>
          <a:prstGeom prst="ellipse">
            <a:avLst/>
          </a:prstGeom>
          <a:solidFill>
            <a:srgbClr val="F2C9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7280" y="2642616"/>
            <a:ext cx="109728" cy="109728"/>
          </a:xfrm>
          <a:prstGeom prst="ellipse">
            <a:avLst/>
          </a:prstGeom>
          <a:solidFill>
            <a:srgbClr val="6FC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371600" y="2514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shift_reg.v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2781456"/>
            <a:ext cx="4846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Shift_Register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Data_Width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input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clk,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input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rst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input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load_data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input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shift_en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input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 wire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[Data_Width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parallel_data_in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output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serial_data_out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[Data_Width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Data_Memory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clk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negedge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rst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rst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Data_Memory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Data_Width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}}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load_data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Data_Memory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parallel_data_in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shift_en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Data_Memory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,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Data_Memory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[Data_Width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   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serial_data_out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Data_Memory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endmodule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0" y="2514600"/>
            <a:ext cx="5486400" cy="3794760"/>
          </a:xfrm>
          <a:prstGeom prst="roundRect">
            <a:avLst>
              <a:gd name="adj" fmla="val 1928"/>
            </a:avLst>
          </a:prstGeom>
          <a:solidFill>
            <a:srgbClr val="FBFCFD"/>
          </a:solidFill>
          <a:ln w="15875">
            <a:solidFill>
              <a:srgbClr val="D3DAE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683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683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827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827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8971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8971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115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8115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7259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7259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217920" y="39090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D3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DEEP DIVE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IP Core  |  15 / 24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6C1D174-0E46-CDF7-EB4A-2880E9686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514600"/>
            <a:ext cx="6047232" cy="37536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DEEP DIVE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Register – Unit Testing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36192"/>
            <a:ext cx="11292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 drives load_re_shift with a known byte pattern, then pulses shift_en repeatedly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loaded value matches the driven P_INPUT exactly after load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serial output bit order matches the expected LSB-first sequence across all 8 shifts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1218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486400" cy="365760"/>
          </a:xfrm>
          <a:prstGeom prst="roundRect">
            <a:avLst>
              <a:gd name="adj" fmla="val 15000"/>
            </a:avLst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5486400" cy="182880"/>
          </a:xfrm>
          <a:prstGeom prst="rect">
            <a:avLst/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" y="2642616"/>
            <a:ext cx="109728" cy="109728"/>
          </a:xfrm>
          <a:prstGeom prst="ellipse">
            <a:avLst/>
          </a:prstGeom>
          <a:solidFill>
            <a:srgbClr val="E86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77824" y="2642616"/>
            <a:ext cx="109728" cy="109728"/>
          </a:xfrm>
          <a:prstGeom prst="ellipse">
            <a:avLst/>
          </a:prstGeom>
          <a:solidFill>
            <a:srgbClr val="F2C9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7280" y="2642616"/>
            <a:ext cx="109728" cy="109728"/>
          </a:xfrm>
          <a:prstGeom prst="ellipse">
            <a:avLst/>
          </a:prstGeom>
          <a:solidFill>
            <a:srgbClr val="6FC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371600" y="2514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shift_reg_tb.v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2807208"/>
            <a:ext cx="4846320" cy="3481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clk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clk;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initial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clk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rst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load_data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shift_en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parallel_data_in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8'b00000000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rst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clk);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parallel_data_in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8'b10110011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load_data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clk);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load_data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clk);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shift_en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clk);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shift_en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8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$finish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8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0" y="2514600"/>
            <a:ext cx="5486400" cy="3794760"/>
          </a:xfrm>
          <a:prstGeom prst="roundRect">
            <a:avLst>
              <a:gd name="adj" fmla="val 1928"/>
            </a:avLst>
          </a:prstGeom>
          <a:solidFill>
            <a:srgbClr val="FBFCFD"/>
          </a:solidFill>
          <a:ln w="15875">
            <a:solidFill>
              <a:srgbClr val="D3DAE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683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683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827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827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8971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8971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115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8115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7259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7259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217920" y="39090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D3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DEEP DIVE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IP Core  |  16 / 24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B6C5981-9E89-2F90-2083-4BEF4309E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9" y="3083373"/>
            <a:ext cx="5417859" cy="21300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DEEP DIVE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Parity Calculator – RTL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36192"/>
            <a:ext cx="11292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combinational XOR-reduction tree over all P_INPUT bits (^P_INPUT)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P_BIT selects even (P_BIT = 0) or odd (P_BIT = 1) parity by inverting the XOR result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Zero-latency — settles within one combinational delay, no clock involved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1218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486400" cy="365760"/>
          </a:xfrm>
          <a:prstGeom prst="roundRect">
            <a:avLst>
              <a:gd name="adj" fmla="val 15000"/>
            </a:avLst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5486400" cy="182880"/>
          </a:xfrm>
          <a:prstGeom prst="rect">
            <a:avLst/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" y="2642616"/>
            <a:ext cx="109728" cy="109728"/>
          </a:xfrm>
          <a:prstGeom prst="ellipse">
            <a:avLst/>
          </a:prstGeom>
          <a:solidFill>
            <a:srgbClr val="E86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77824" y="2642616"/>
            <a:ext cx="109728" cy="109728"/>
          </a:xfrm>
          <a:prstGeom prst="ellipse">
            <a:avLst/>
          </a:prstGeom>
          <a:solidFill>
            <a:srgbClr val="F2C9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7280" y="2642616"/>
            <a:ext cx="109728" cy="109728"/>
          </a:xfrm>
          <a:prstGeom prst="ellipse">
            <a:avLst/>
          </a:prstGeom>
          <a:solidFill>
            <a:srgbClr val="6FC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371600" y="2514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parity_calc.v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108960"/>
            <a:ext cx="4846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12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parityBit</a:t>
            </a:r>
            <a:r>
              <a:rPr lang="en-US" sz="12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12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lang="en-US" sz="12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Data_Path</a:t>
            </a:r>
            <a:r>
              <a:rPr lang="en-US" sz="12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2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)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input </a:t>
            </a:r>
            <a:r>
              <a:rPr lang="en-US" sz="12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12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[Data_Path</a:t>
            </a:r>
            <a:r>
              <a:rPr lang="en-US" sz="12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2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tx_data_fifo</a:t>
            </a:r>
            <a:r>
              <a:rPr lang="en-US" sz="12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,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input </a:t>
            </a:r>
            <a:r>
              <a:rPr lang="en-US" sz="12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12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parityBit_state</a:t>
            </a:r>
            <a:r>
              <a:rPr lang="en-US" sz="12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output </a:t>
            </a:r>
            <a:r>
              <a:rPr lang="en-US" sz="12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12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parity_bit</a:t>
            </a:r>
            <a:endParaRPr lang="en-US" sz="12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en-US" sz="12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8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parity_bit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parityBit_state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 (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~^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tx_data_fifo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8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^</a:t>
            </a:r>
            <a:r>
              <a:rPr lang="en-US" sz="8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tx_data_fifo</a:t>
            </a:r>
            <a:r>
              <a:rPr lang="en-US" sz="8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endmodule</a:t>
            </a:r>
            <a:endParaRPr lang="en-US" sz="12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0" y="2514600"/>
            <a:ext cx="5486400" cy="3794760"/>
          </a:xfrm>
          <a:prstGeom prst="roundRect">
            <a:avLst>
              <a:gd name="adj" fmla="val 1928"/>
            </a:avLst>
          </a:prstGeom>
          <a:solidFill>
            <a:srgbClr val="FBFCFD"/>
          </a:solidFill>
          <a:ln w="15875">
            <a:solidFill>
              <a:srgbClr val="D3DAE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683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683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827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827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8971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8971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115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8115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7259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7259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DEEP DIVE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IP Core  |  17 / 24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F636CB0-FF54-4430-15AF-7DFF86D4A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2394585"/>
            <a:ext cx="6047233" cy="39970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DEEP DIVE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Parity Calculator – Unit Testing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36192"/>
            <a:ext cx="11292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 sweeps data patterns (all-zero, all-one, alternating, randomized) against both P_BIT settings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model inside the testbench computes expected parity independently of the DUT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Self-checking comparison confirms both even and odd cases match for every pattern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1218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486400" cy="365760"/>
          </a:xfrm>
          <a:prstGeom prst="roundRect">
            <a:avLst>
              <a:gd name="adj" fmla="val 15000"/>
            </a:avLst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5486400" cy="182880"/>
          </a:xfrm>
          <a:prstGeom prst="rect">
            <a:avLst/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" y="2642616"/>
            <a:ext cx="109728" cy="109728"/>
          </a:xfrm>
          <a:prstGeom prst="ellipse">
            <a:avLst/>
          </a:prstGeom>
          <a:solidFill>
            <a:srgbClr val="E86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77824" y="2642616"/>
            <a:ext cx="109728" cy="109728"/>
          </a:xfrm>
          <a:prstGeom prst="ellipse">
            <a:avLst/>
          </a:prstGeom>
          <a:solidFill>
            <a:srgbClr val="F2C9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7280" y="2642616"/>
            <a:ext cx="109728" cy="109728"/>
          </a:xfrm>
          <a:prstGeom prst="ellipse">
            <a:avLst/>
          </a:prstGeom>
          <a:solidFill>
            <a:srgbClr val="6FC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371600" y="2514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parity_bit_tb.v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2807208"/>
            <a:ext cx="4846320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parity_bit_tb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Data_Path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    reg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[Data_Path</a:t>
            </a:r>
            <a:r>
              <a:rPr lang="en-US" sz="9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9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9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9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9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tx_data_fifo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    wire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parity_bit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parityBit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(.</a:t>
            </a:r>
            <a:r>
              <a:rPr lang="en-US" sz="900" b="0" dirty="0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Data_Path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(Data_Path) ) UT (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en-US" sz="900" b="0" dirty="0" err="1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tx_data_fifo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tx_data_fifo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en-US" sz="900" b="0" dirty="0" err="1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parity_bit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parity_bit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initial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9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sz="9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tx_data_fifo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$random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sz="9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tx_data_fifo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$random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sz="9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9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sz="9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tx_data_fifo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$random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sz="9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9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sz="9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tx_data_fifo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$random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sz="9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9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sz="9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tx_data_fifo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$random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sz="9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9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$finish</a:t>
            </a: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9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endmodule</a:t>
            </a:r>
            <a:endParaRPr lang="en-US" sz="9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0" y="2514600"/>
            <a:ext cx="5486400" cy="3794760"/>
          </a:xfrm>
          <a:prstGeom prst="roundRect">
            <a:avLst>
              <a:gd name="adj" fmla="val 1928"/>
            </a:avLst>
          </a:prstGeom>
          <a:solidFill>
            <a:srgbClr val="FBFCFD"/>
          </a:solidFill>
          <a:ln w="15875">
            <a:solidFill>
              <a:srgbClr val="D3DAE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683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683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827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827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8971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8971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115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8115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7259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7259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DEEP DIVE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IP Core  |  18 / 24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75985BF-6897-C169-423E-2B3A3C04A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880361"/>
            <a:ext cx="5486400" cy="203304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DEEP DIVE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3-bit Counter – RTL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36192"/>
            <a:ext cx="11292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3-bit up-counter, increments on every shift_en pulse during DATA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bit_done asserted purely combinationally: assign bit_done = (counter == 3'b111);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 on RST or when the FSM re-enters DATA for the next frame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1218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486400" cy="365760"/>
          </a:xfrm>
          <a:prstGeom prst="roundRect">
            <a:avLst>
              <a:gd name="adj" fmla="val 15000"/>
            </a:avLst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5486400" cy="182880"/>
          </a:xfrm>
          <a:prstGeom prst="rect">
            <a:avLst/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" y="2642616"/>
            <a:ext cx="109728" cy="109728"/>
          </a:xfrm>
          <a:prstGeom prst="ellipse">
            <a:avLst/>
          </a:prstGeom>
          <a:solidFill>
            <a:srgbClr val="E86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77824" y="2642616"/>
            <a:ext cx="109728" cy="109728"/>
          </a:xfrm>
          <a:prstGeom prst="ellipse">
            <a:avLst/>
          </a:prstGeom>
          <a:solidFill>
            <a:srgbClr val="F2C9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7280" y="2642616"/>
            <a:ext cx="109728" cy="109728"/>
          </a:xfrm>
          <a:prstGeom prst="ellipse">
            <a:avLst/>
          </a:prstGeom>
          <a:solidFill>
            <a:srgbClr val="6FC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371600" y="2514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bit_counter.v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2872896"/>
            <a:ext cx="4846320" cy="320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input  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clk,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input  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rst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input  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shift_en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output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bit_done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    reg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05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5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05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] count;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clk </a:t>
            </a:r>
            <a:r>
              <a:rPr lang="en-US" sz="105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negedge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rst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5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105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rst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    count </a:t>
            </a:r>
            <a:r>
              <a:rPr lang="en-US" sz="105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3'b000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5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shift_en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        count </a:t>
            </a:r>
            <a:r>
              <a:rPr lang="en-US" sz="105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count </a:t>
            </a:r>
            <a:r>
              <a:rPr lang="en-US" sz="105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1'b1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5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5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5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bit_done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(count </a:t>
            </a:r>
            <a:r>
              <a:rPr lang="en-US" sz="105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3'b111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endmodule</a:t>
            </a:r>
            <a:endParaRPr lang="en-US" sz="105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0" y="2514600"/>
            <a:ext cx="5486400" cy="3794760"/>
          </a:xfrm>
          <a:prstGeom prst="roundRect">
            <a:avLst>
              <a:gd name="adj" fmla="val 1928"/>
            </a:avLst>
          </a:prstGeom>
          <a:solidFill>
            <a:srgbClr val="FBFCFD"/>
          </a:solidFill>
          <a:ln w="15875">
            <a:solidFill>
              <a:srgbClr val="D3DAE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683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683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827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827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8971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8971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115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8115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7259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7259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492240" y="44119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8328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DEEP DIVE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IP Core  |  19 / 24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4A4298C-97C7-6622-AF6C-CBC2CB174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944" y="2494026"/>
            <a:ext cx="5486400" cy="381533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DEEP DIVE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3-bit Counter – Unit Testing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36192"/>
            <a:ext cx="11292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 pulses shift_en eight times, recording the counter value every cycle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bit_done stays low for counts 0–6 and asserts on the exact cycle counter = 3'b111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timing was the root cause in Debug Case Study #2 — regression confirms the fix holds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1218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486400" cy="365760"/>
          </a:xfrm>
          <a:prstGeom prst="roundRect">
            <a:avLst>
              <a:gd name="adj" fmla="val 15000"/>
            </a:avLst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5486400" cy="182880"/>
          </a:xfrm>
          <a:prstGeom prst="rect">
            <a:avLst/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" y="2642616"/>
            <a:ext cx="109728" cy="109728"/>
          </a:xfrm>
          <a:prstGeom prst="ellipse">
            <a:avLst/>
          </a:prstGeom>
          <a:solidFill>
            <a:srgbClr val="E86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77824" y="2642616"/>
            <a:ext cx="109728" cy="109728"/>
          </a:xfrm>
          <a:prstGeom prst="ellipse">
            <a:avLst/>
          </a:prstGeom>
          <a:solidFill>
            <a:srgbClr val="F2C9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7280" y="2642616"/>
            <a:ext cx="109728" cy="109728"/>
          </a:xfrm>
          <a:prstGeom prst="ellipse">
            <a:avLst/>
          </a:prstGeom>
          <a:solidFill>
            <a:srgbClr val="6FC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371600" y="2514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bit_counter_tb.v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807208"/>
            <a:ext cx="4846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clk </a:t>
            </a:r>
            <a:r>
              <a:rPr lang="en-US" sz="10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clk; 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pulse_shift_en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clk);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shift_en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1'b1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clk);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shift_en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endtask</a:t>
            </a:r>
            <a:endParaRPr lang="en-US" sz="10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initial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clk </a:t>
            </a:r>
            <a:r>
              <a:rPr lang="en-US" sz="10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rst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shift_en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rst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00" b="0" dirty="0" err="1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pulse_shift_en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$finish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</a:br>
            <a:endParaRPr lang="en-US" sz="10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217920" y="39090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D3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DEEP DIVE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IP Core  |  20 / 24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2CCD989-0F01-6FA4-50A6-98380509E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2" y="3134009"/>
            <a:ext cx="5455918" cy="182987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DEEP DIVE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4-to-1 MUX – RTL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36192"/>
            <a:ext cx="11292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routing block: selects Start bit (0), Data bit, Parity bit, or Stop/Idle bit (1) onto TX_OUTPUT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mux_sel is driven directly by the FSM's current state — a pure function of state, never latched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as a single always @(*) block using blocking (=) assignments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1218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486400" cy="365760"/>
          </a:xfrm>
          <a:prstGeom prst="roundRect">
            <a:avLst>
              <a:gd name="adj" fmla="val 15000"/>
            </a:avLst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5486400" cy="182880"/>
          </a:xfrm>
          <a:prstGeom prst="rect">
            <a:avLst/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" y="2642616"/>
            <a:ext cx="109728" cy="109728"/>
          </a:xfrm>
          <a:prstGeom prst="ellipse">
            <a:avLst/>
          </a:prstGeom>
          <a:solidFill>
            <a:srgbClr val="E86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77824" y="2642616"/>
            <a:ext cx="109728" cy="109728"/>
          </a:xfrm>
          <a:prstGeom prst="ellipse">
            <a:avLst/>
          </a:prstGeom>
          <a:solidFill>
            <a:srgbClr val="F2C9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7280" y="2642616"/>
            <a:ext cx="109728" cy="109728"/>
          </a:xfrm>
          <a:prstGeom prst="ellipse">
            <a:avLst/>
          </a:prstGeom>
          <a:solidFill>
            <a:srgbClr val="6FC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371600" y="2514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tx_mux.v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2807208"/>
            <a:ext cx="484632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MUX_4_1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input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DATA,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input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PARITY,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input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 wire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05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05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05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mux_sel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output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TX_OUT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mux_sel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2'b00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  TX_OUT </a:t>
            </a:r>
            <a:r>
              <a:rPr lang="en-US" sz="105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  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mux_sel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2'b01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 TX_OUT </a:t>
            </a:r>
            <a:r>
              <a:rPr lang="en-US" sz="105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DATA;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mux_sel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2'b10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 TX_OUT </a:t>
            </a:r>
            <a:r>
              <a:rPr lang="en-US" sz="105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PARITY;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mux_sel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2'b11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 TX_OUT </a:t>
            </a:r>
            <a:r>
              <a:rPr lang="en-US" sz="105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1'b1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TX_OUT </a:t>
            </a:r>
            <a:r>
              <a:rPr lang="en-US" sz="105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1'b1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05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endmodule</a:t>
            </a:r>
            <a:endParaRPr lang="en-US" sz="105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0" y="2514600"/>
            <a:ext cx="5486400" cy="3794760"/>
          </a:xfrm>
          <a:prstGeom prst="roundRect">
            <a:avLst>
              <a:gd name="adj" fmla="val 1928"/>
            </a:avLst>
          </a:prstGeom>
          <a:solidFill>
            <a:srgbClr val="FBFCFD"/>
          </a:solidFill>
          <a:ln w="15875">
            <a:solidFill>
              <a:srgbClr val="D3DAE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683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683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827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827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8971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8971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115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8115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725912" y="24940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725912" y="628878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DEEP DIVE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IP Core  |  21 / 24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3CCE6C1-C1D6-CBCA-DE78-BE3222640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310808"/>
            <a:ext cx="5516575" cy="401912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DEEP DIVE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4-to-1 MUX – Unit Testing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36192"/>
            <a:ext cx="11292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 drives mux_sel through all 4 encodings while varying the three data inputs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TX_OUTPUT reflects the correct source for every select value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block from Debug Case Study #1 — regression confirms Stop-bit routing is correct every cycle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1218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486400" cy="365760"/>
          </a:xfrm>
          <a:prstGeom prst="roundRect">
            <a:avLst>
              <a:gd name="adj" fmla="val 15000"/>
            </a:avLst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5486400" cy="182880"/>
          </a:xfrm>
          <a:prstGeom prst="rect">
            <a:avLst/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" y="2642616"/>
            <a:ext cx="109728" cy="109728"/>
          </a:xfrm>
          <a:prstGeom prst="ellipse">
            <a:avLst/>
          </a:prstGeom>
          <a:solidFill>
            <a:srgbClr val="E86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77824" y="2642616"/>
            <a:ext cx="109728" cy="109728"/>
          </a:xfrm>
          <a:prstGeom prst="ellipse">
            <a:avLst/>
          </a:prstGeom>
          <a:solidFill>
            <a:srgbClr val="F2C9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7280" y="2642616"/>
            <a:ext cx="109728" cy="109728"/>
          </a:xfrm>
          <a:prstGeom prst="ellipse">
            <a:avLst/>
          </a:prstGeom>
          <a:solidFill>
            <a:srgbClr val="6FC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371600" y="2514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tx_mux_tb.v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2880360"/>
            <a:ext cx="4846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set_Data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(input [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Mux_Sel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, input parity);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DATA </a:t>
            </a:r>
            <a:r>
              <a:rPr lang="en-US" sz="10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$random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PARITY </a:t>
            </a:r>
            <a:r>
              <a:rPr lang="en-US" sz="10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parity;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mux_sel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Mux_Sel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; 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  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0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endtask</a:t>
            </a:r>
            <a:endParaRPr lang="en-US" sz="10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initial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set_Data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2'b00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1'b1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 err="1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set_Data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2'b01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1'b1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set_Data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2'b10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1'b1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set_Data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2'b11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1'b1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$finish</a:t>
            </a:r>
            <a:r>
              <a:rPr lang="en-US" sz="10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217920" y="39090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D3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 DEEP DIVE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IP Core  |  22 / 24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8DF1EA2-2CEF-D0ED-FBB0-34FCDF34A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3339846"/>
            <a:ext cx="5504688" cy="184718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FIFO </a:t>
            </a:r>
            <a:r>
              <a:rPr lang="en-US" sz="3200" b="1" dirty="0" err="1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97330"/>
            <a:ext cx="11292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parameterizable First-Word-Fall-Through FIFO was also designed to demonstrate a production-grade decoupling strategy between a fast CPU/write-side and the comparatively slow UART bit rate.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40208" y="2432516"/>
            <a:ext cx="5955792" cy="3886200"/>
          </a:xfrm>
          <a:prstGeom prst="roundRect">
            <a:avLst>
              <a:gd name="adj" fmla="val 1412"/>
            </a:avLst>
          </a:prstGeom>
          <a:solidFill>
            <a:srgbClr val="121826"/>
          </a:solidFill>
          <a:ln/>
        </p:spPr>
        <p:txBody>
          <a:bodyPr/>
          <a:lstStyle/>
          <a:p>
            <a:r>
              <a:rPr lang="en-US" dirty="0"/>
              <a:t>t</a:t>
            </a:r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5440680" cy="365760"/>
          </a:xfrm>
          <a:prstGeom prst="roundRect">
            <a:avLst>
              <a:gd name="adj" fmla="val 15000"/>
            </a:avLst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5440680" cy="182880"/>
          </a:xfrm>
          <a:prstGeom prst="rect">
            <a:avLst/>
          </a:prstGeom>
          <a:solidFill>
            <a:srgbClr val="0C1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" y="2551176"/>
            <a:ext cx="109728" cy="109728"/>
          </a:xfrm>
          <a:prstGeom prst="ellipse">
            <a:avLst/>
          </a:prstGeom>
          <a:solidFill>
            <a:srgbClr val="E86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77824" y="2551176"/>
            <a:ext cx="109728" cy="109728"/>
          </a:xfrm>
          <a:prstGeom prst="ellipse">
            <a:avLst/>
          </a:prstGeom>
          <a:solidFill>
            <a:srgbClr val="F2C9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7280" y="2551176"/>
            <a:ext cx="109728" cy="109728"/>
          </a:xfrm>
          <a:prstGeom prst="ellipse">
            <a:avLst/>
          </a:prstGeom>
          <a:solidFill>
            <a:srgbClr val="6FC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109472" y="2386722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00" dirty="0" err="1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FIFO.v</a:t>
            </a:r>
            <a:r>
              <a:rPr lang="en-US" sz="12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6923" y="2875930"/>
            <a:ext cx="3356221" cy="346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3095"/>
              </a:lnSpc>
              <a:buNone/>
            </a:pPr>
            <a:r>
              <a:rPr lang="en-US" sz="7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700" b="0" dirty="0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FIFO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7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7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7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Data_Path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7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7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,</a:t>
            </a:r>
            <a:r>
              <a:rPr lang="en-US" sz="7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 parameter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Depth </a:t>
            </a:r>
            <a:r>
              <a:rPr lang="en-US" sz="7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7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)</a:t>
            </a:r>
          </a:p>
          <a:p>
            <a:pPr>
              <a:lnSpc>
                <a:spcPct val="113095"/>
              </a:lnSpc>
              <a:buNone/>
            </a:pP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input </a:t>
            </a:r>
            <a:r>
              <a:rPr lang="en-US" sz="7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clk,</a:t>
            </a:r>
          </a:p>
          <a:p>
            <a:pPr>
              <a:lnSpc>
                <a:spcPct val="113095"/>
              </a:lnSpc>
              <a:buNone/>
            </a:pP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input </a:t>
            </a:r>
            <a:r>
              <a:rPr lang="en-US" sz="7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7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rst_n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input</a:t>
            </a:r>
            <a:r>
              <a:rPr lang="en-US" sz="7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 wire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[Data_Path</a:t>
            </a:r>
            <a:r>
              <a:rPr lang="en-US" sz="7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7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7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7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7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tx_data_in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input </a:t>
            </a:r>
            <a:r>
              <a:rPr lang="en-US" sz="7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7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tx_wr_en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input </a:t>
            </a:r>
            <a:r>
              <a:rPr lang="en-US" sz="7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7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rd_en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output </a:t>
            </a:r>
            <a:r>
              <a:rPr lang="en-US" sz="7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full,  </a:t>
            </a:r>
            <a:r>
              <a:rPr lang="en-US" sz="700" b="0" i="1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// if 4 byte is full by data</a:t>
            </a:r>
            <a:endParaRPr lang="en-US" sz="7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output</a:t>
            </a:r>
            <a:r>
              <a:rPr lang="en-US" sz="7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 wire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[Data_Path</a:t>
            </a:r>
            <a:r>
              <a:rPr lang="en-US" sz="7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7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7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7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7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tx_data_out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output </a:t>
            </a:r>
            <a:r>
              <a:rPr lang="en-US" sz="7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empty  </a:t>
            </a:r>
            <a:r>
              <a:rPr lang="en-US" sz="700" b="0" i="1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// if empty = 0 this mean  memory have data ;</a:t>
            </a:r>
            <a:endParaRPr lang="en-US" sz="7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7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[Data_Path</a:t>
            </a:r>
            <a:r>
              <a:rPr lang="en-US" sz="7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7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7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7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7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Memory_Arr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7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7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is_full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7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full  </a:t>
            </a:r>
            <a:r>
              <a:rPr lang="en-US" sz="7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7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is_full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7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empty </a:t>
            </a:r>
            <a:r>
              <a:rPr lang="en-US" sz="7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7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7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is_full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</a:br>
            <a:endParaRPr lang="en-US" sz="7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7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7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tx_data_out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7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700" b="0" dirty="0" err="1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Memory_Arr</a:t>
            </a:r>
            <a: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en-US" sz="700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</a:br>
            <a:endParaRPr lang="en-US" sz="700" b="0" dirty="0">
              <a:solidFill>
                <a:srgbClr val="F0F0F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457200" y="649261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ARCHITECTURE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IP Core  |  23 / 24</a:t>
            </a:r>
            <a:endParaRPr lang="en-US" sz="9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EE2893-CC74-AC80-41A4-6B124360141C}"/>
              </a:ext>
            </a:extLst>
          </p:cNvPr>
          <p:cNvSpPr txBox="1"/>
          <p:nvPr/>
        </p:nvSpPr>
        <p:spPr>
          <a:xfrm>
            <a:off x="3235298" y="2825358"/>
            <a:ext cx="2964336" cy="312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always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D6D6D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@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posedge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clk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D6D6D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or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negedge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rst_n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D6D6D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~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rst_n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is_full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D6D6D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&lt;=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BC88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1'b0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Memory_Arr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D6D6D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&lt;=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BC88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rd_en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D6D6D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&amp;&amp;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tx_wr_en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D6D6D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&amp;&amp;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D6D6D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~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full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D6D6D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&amp;&amp;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D6D6D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~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empty)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is_full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Memory_Arr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D6D6D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&lt;=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tx_data_in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Memory_Arr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D6D6D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&lt;=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tx_data_in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is_full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D6D6D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&lt;=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BC88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1'b1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tx_wr_en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D6D6D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&amp;&amp;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D6D6D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~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is_full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Memory_Arr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D6D6D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&lt;=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tx_data_in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is_full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D6D6D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&lt;=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BC88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1'b1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rd_en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D6D6D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&amp;&amp;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is_full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is_full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D6D6D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&lt;=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BC88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1'b0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82D2C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endmodule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BA30B66-3346-5FA5-E375-337EDB403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715" y="2112382"/>
            <a:ext cx="5890815" cy="411113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FIFO vs. Direct Handshake Architecture Trade-off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3D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440680" cy="502920"/>
          </a:xfrm>
          <a:prstGeom prst="roundRect">
            <a:avLst>
              <a:gd name="adj" fmla="val 14545"/>
            </a:avLst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5440680" cy="24688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85800" y="15544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FIFO-BASED ARCHITECTURE (INDUSTRY STANDARD)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24028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CPU write timing from the UART bit rate — the CPU never stalls waiting on BUSY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Absorbs bursty writes and smooths them onto the serial line at baud rate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3D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63640" y="1554480"/>
            <a:ext cx="5440680" cy="502920"/>
          </a:xfrm>
          <a:prstGeom prst="roundRect">
            <a:avLst>
              <a:gd name="adj" fmla="val 14545"/>
            </a:avLst>
          </a:prstGeom>
          <a:solidFill>
            <a:srgbClr val="1B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63640" y="1810512"/>
            <a:ext cx="5440680" cy="246888"/>
          </a:xfrm>
          <a:prstGeom prst="rect">
            <a:avLst/>
          </a:prstGeom>
          <a:solidFill>
            <a:srgbClr val="1B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92240" y="15544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HANDSHAKE (THIS PROJECT'S SPEC)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24028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2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tx_data_in</a:t>
            </a: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pulses are intentionally ignored while BUSY is high — no buffering,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the master to respect Busy explicitly — simplest possible core, smallest footprint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11247120" cy="1874520"/>
          </a:xfrm>
          <a:prstGeom prst="roundRect">
            <a:avLst>
              <a:gd name="adj" fmla="val 3902"/>
            </a:avLst>
          </a:prstGeom>
          <a:solidFill>
            <a:srgbClr val="FBFCFD"/>
          </a:solidFill>
          <a:ln w="15875">
            <a:solidFill>
              <a:srgbClr val="D3DAE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67712" y="40942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267712" y="596874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42232" y="40942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42232" y="596874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16752" y="40942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16752" y="596874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891272" y="40942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891272" y="596874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765792" y="409422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765792" y="5968746"/>
            <a:ext cx="128016" cy="41148"/>
          </a:xfrm>
          <a:prstGeom prst="rect">
            <a:avLst/>
          </a:prstGeom>
          <a:solidFill>
            <a:srgbClr val="2E50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57200" y="45491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D3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0520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3721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ARCHITECTURE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IP Core  |  24 / 24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0A48E78-3475-5C6D-2FBB-4DBD88478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4167378"/>
            <a:ext cx="11247119" cy="17350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5017</Words>
  <Application>Microsoft Office PowerPoint</Application>
  <PresentationFormat>Widescreen</PresentationFormat>
  <Paragraphs>602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Cambria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ahmed gamal khalaf abd elazeem</cp:lastModifiedBy>
  <cp:revision>2</cp:revision>
  <dcterms:created xsi:type="dcterms:W3CDTF">2026-08-28T07:40:33Z</dcterms:created>
  <dcterms:modified xsi:type="dcterms:W3CDTF">2026-08-28T14:20:03Z</dcterms:modified>
</cp:coreProperties>
</file>